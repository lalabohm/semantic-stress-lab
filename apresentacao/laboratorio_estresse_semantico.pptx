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1463040"/>
            <a:ext cx="3840480" cy="3840480"/>
          </a:xfrm>
          <a:prstGeom prst="ellipse">
            <a:avLst/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5120640"/>
            <a:ext cx="3108960" cy="3108960"/>
          </a:xfrm>
          <a:prstGeom prst="ellipse">
            <a:avLst/>
          </a:prstGeom>
          <a:solidFill>
            <a:srgbClr val="D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1" i="0">
                <a:solidFill>
                  <a:srgbClr val="1B2A4A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0332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495057"/>
                </a:solidFill>
                <a:latin typeface="Calibri"/>
              </a:rPr>
              <a:t>Medindo como a complexidade literária afeta modelos de embedding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893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DB"/>
                </a:solidFill>
                <a:latin typeface="Calibri"/>
              </a:rPr>
              <a:t>BGE-M3   ·   LaBSE   ·   EmbeddingGemma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B5BDB"/>
                </a:solidFill>
                <a:latin typeface="Calibri"/>
              </a:rPr>
              <a:t>CONCEITO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O que é um embedding?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50292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2A4A"/>
                </a:solidFill>
                <a:latin typeface="Calibri"/>
              </a:rPr>
              <a:t>Um embedding transforma um texto em uma lista de números (um vetor) — um ponto num espaço matemático de muitas dimensões.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800" b="0" i="0">
                <a:solidFill>
                  <a:srgbClr val="495057"/>
                </a:solidFill>
                <a:latin typeface="Calibri"/>
              </a:rPr>
              <a:t>Textos com significado parecido caem em pontos próximos nesse espaço.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800" b="0" i="0">
                <a:solidFill>
                  <a:srgbClr val="495057"/>
                </a:solidFill>
                <a:latin typeface="Calibri"/>
              </a:rPr>
              <a:t>Textos com significado diferente caem em pontos distantes.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5532120"/>
            <a:ext cx="5029200" cy="777240"/>
          </a:xfrm>
          <a:prstGeom prst="roundRect">
            <a:avLst>
              <a:gd name="adj" fmla="val 18000"/>
            </a:avLst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>
              <a:lnSpc>
                <a:spcPct val="110000"/>
              </a:lnSpc>
            </a:pPr>
            <a:r>
              <a:rPr sz="1500" b="0" i="1">
                <a:solidFill>
                  <a:srgbClr val="1B2A4A"/>
                </a:solidFill>
                <a:latin typeface="Calibri"/>
              </a:rPr>
              <a:t>Pense num mapa: frases parecidas “moram perto” umas das outras.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600200"/>
            <a:ext cx="5212080" cy="443484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18120" y="3017520"/>
            <a:ext cx="310896" cy="310896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321040" y="3337560"/>
            <a:ext cx="256032" cy="256032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8080" y="3520440"/>
            <a:ext cx="219456" cy="219456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88620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495057"/>
                </a:solidFill>
                <a:latin typeface="Calibri"/>
              </a:rPr>
              <a:t>“O gato dorme no sofá”</a:t>
            </a:r>
          </a:p>
          <a:p>
            <a:pPr algn="ctr">
              <a:spcBef>
                <a:spcPts val="0"/>
              </a:spcBef>
            </a:pPr>
            <a:r>
              <a:rPr sz="1250" b="0" i="0">
                <a:solidFill>
                  <a:srgbClr val="495057"/>
                </a:solidFill>
                <a:latin typeface="Calibri"/>
              </a:rPr>
              <a:t>“O felino descansa no sofá”</a:t>
            </a:r>
          </a:p>
        </p:txBody>
      </p:sp>
      <p:sp>
        <p:nvSpPr>
          <p:cNvPr id="11" name="Oval 10"/>
          <p:cNvSpPr/>
          <p:nvPr/>
        </p:nvSpPr>
        <p:spPr>
          <a:xfrm>
            <a:off x="10012679" y="4663440"/>
            <a:ext cx="310896" cy="310896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23959" y="50749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495057"/>
                </a:solidFill>
                <a:latin typeface="Calibri"/>
              </a:rPr>
              <a:t>“A bolsa caiu hoje”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973568" y="3172968"/>
            <a:ext cx="2194559" cy="1645920"/>
          </a:xfrm>
          <a:prstGeom prst="line">
            <a:avLst/>
          </a:prstGeom>
          <a:ln w="12700">
            <a:solidFill>
              <a:srgbClr val="868E9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0" y="5532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CA678"/>
                </a:solidFill>
              </a:rPr>
              <a:t>●  </a:t>
            </a:r>
            <a:r>
              <a:rPr sz="1200">
                <a:solidFill>
                  <a:srgbClr val="495057"/>
                </a:solidFill>
                <a:latin typeface="Calibri"/>
              </a:rPr>
              <a:t>significado parecido      </a:t>
            </a:r>
            <a:r>
              <a:rPr sz="1300" b="1">
                <a:solidFill>
                  <a:srgbClr val="E8590C"/>
                </a:solidFill>
              </a:rPr>
              <a:t>●  </a:t>
            </a:r>
            <a:r>
              <a:rPr sz="1200">
                <a:solidFill>
                  <a:srgbClr val="495057"/>
                </a:solidFill>
                <a:latin typeface="Calibri"/>
              </a:rPr>
              <a:t>significado diferente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B5BDB"/>
                </a:solidFill>
                <a:latin typeface="Calibri"/>
              </a:rPr>
              <a:t>METODOLOGIA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Os três modelos testados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3429000" cy="28803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 Same Side Corner Rectangle 4"/>
          <p:cNvSpPr/>
          <p:nvPr/>
        </p:nvSpPr>
        <p:spPr>
          <a:xfrm>
            <a:off x="640080" y="1737360"/>
            <a:ext cx="3429000" cy="109728"/>
          </a:xfrm>
          <a:prstGeom prst="round2SameRect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BGE-M3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7004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DB"/>
                </a:solidFill>
                <a:latin typeface="Calibri"/>
              </a:rPr>
              <a:t>BAAI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2880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Modelo multilíngue de última geração, forte em recuperação de texto.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3429000" cy="28803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4389120" y="1737360"/>
            <a:ext cx="3429000" cy="109728"/>
          </a:xfrm>
          <a:prstGeom prst="round2SameRect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14884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LaBSE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DB"/>
                </a:solidFill>
                <a:latin typeface="Calibri"/>
              </a:rPr>
              <a:t>GOOGLE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154680"/>
            <a:ext cx="2880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Especializado em alinhamento de frases entre idiomas diferentes.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737360"/>
            <a:ext cx="3429000" cy="28803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8138160" y="1737360"/>
            <a:ext cx="3429000" cy="109728"/>
          </a:xfrm>
          <a:prstGeom prst="round2SameRect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14884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EmbeddingGemma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67004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DB"/>
                </a:solidFill>
                <a:latin typeface="Calibri"/>
              </a:rPr>
              <a:t>GOOGLE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154680"/>
            <a:ext cx="2880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Modelo leve, roda localmente com poucos recursos.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29200"/>
            <a:ext cx="10911535" cy="1051560"/>
          </a:xfrm>
          <a:prstGeom prst="roundRect">
            <a:avLst>
              <a:gd name="adj" fmla="val 10000"/>
            </a:avLst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Por que três modelos, não um só?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450" b="0" i="0">
                <a:solidFill>
                  <a:srgbClr val="495057"/>
                </a:solidFill>
                <a:latin typeface="Calibri"/>
              </a:rPr>
              <a:t>Para verificar se um efeito observado é consistente entre arquiteturas diferentes — ou se é peculiaridade de um único modelo.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B5BDB"/>
                </a:solidFill>
                <a:latin typeface="Calibri"/>
              </a:rPr>
              <a:t>DESENHO EXPERIMENTAL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A ideia central: tradução intralingual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 i="0">
                <a:solidFill>
                  <a:srgbClr val="495057"/>
                </a:solidFill>
                <a:latin typeface="Calibri"/>
              </a:rPr>
              <a:t>Pegamos um trecho literário complexo (metáfora, hipérbato, paradoxo...) e o reescrevemos de forma direta e simples, preservando o mesmo significado.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06040"/>
            <a:ext cx="3200400" cy="914400"/>
          </a:xfrm>
          <a:prstGeom prst="roundRect">
            <a:avLst>
              <a:gd name="adj" fmla="val 12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500" b="1" i="0">
                <a:solidFill>
                  <a:srgbClr val="1B2A4A"/>
                </a:solidFill>
                <a:latin typeface="Calibri"/>
              </a:rPr>
              <a:t>Texto original (complexo)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977640"/>
            <a:ext cx="3200400" cy="914400"/>
          </a:xfrm>
          <a:prstGeom prst="roundRect">
            <a:avLst>
              <a:gd name="adj" fmla="val 12000"/>
            </a:avLst>
          </a:prstGeom>
          <a:solidFill>
            <a:srgbClr val="D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500" b="1" i="0">
                <a:solidFill>
                  <a:srgbClr val="1B2A4A"/>
                </a:solidFill>
                <a:latin typeface="Calibri"/>
              </a:rPr>
              <a:t>Texto simplificado (mesmo significado)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840480" y="3063240"/>
            <a:ext cx="1234440" cy="0"/>
          </a:xfrm>
          <a:prstGeom prst="line">
            <a:avLst/>
          </a:prstGeom>
          <a:ln w="22225">
            <a:solidFill>
              <a:srgbClr val="868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0" y="4434840"/>
            <a:ext cx="1234440" cy="0"/>
          </a:xfrm>
          <a:prstGeom prst="line">
            <a:avLst/>
          </a:prstGeom>
          <a:ln w="22225">
            <a:solidFill>
              <a:srgbClr val="868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74920" y="2606040"/>
            <a:ext cx="15544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868E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B2A4A"/>
                </a:solidFill>
                <a:latin typeface="Calibri"/>
              </a:rPr>
              <a:t>vetor 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3977640"/>
            <a:ext cx="15544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868E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B2A4A"/>
                </a:solidFill>
                <a:latin typeface="Calibri"/>
              </a:rPr>
              <a:t>vetor B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629400" y="3063240"/>
            <a:ext cx="1645920" cy="228600"/>
          </a:xfrm>
          <a:prstGeom prst="line">
            <a:avLst/>
          </a:prstGeom>
          <a:ln w="22225">
            <a:solidFill>
              <a:srgbClr val="868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629400" y="3291840"/>
            <a:ext cx="1645920" cy="1143000"/>
          </a:xfrm>
          <a:prstGeom prst="line">
            <a:avLst/>
          </a:prstGeom>
          <a:ln w="22225">
            <a:solidFill>
              <a:srgbClr val="868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75320" y="2834640"/>
            <a:ext cx="3291840" cy="914400"/>
          </a:xfrm>
          <a:prstGeom prst="roundRect">
            <a:avLst>
              <a:gd name="adj" fmla="val 16000"/>
            </a:avLst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Similaridade de Cosseno</a:t>
            </a:r>
          </a:p>
          <a:p>
            <a:pPr algn="ctr">
              <a:spcBef>
                <a:spcPts val="200"/>
              </a:spcBef>
            </a:pPr>
            <a:r>
              <a:rPr sz="1300" b="0" i="0">
                <a:solidFill>
                  <a:srgbClr val="FFFFFF"/>
                </a:solidFill>
                <a:latin typeface="Calibri"/>
              </a:rPr>
              <a:t>0 (distante)  →  1 (idêntico)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49240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2000"/>
              </a:lnSpc>
            </a:pPr>
            <a:r>
              <a:rPr sz="1500" b="0" i="1">
                <a:solidFill>
                  <a:srgbClr val="1B2A4A"/>
                </a:solidFill>
                <a:latin typeface="Calibri"/>
              </a:rPr>
              <a:t>Pergunta central: o texto complicado e sua versão simples — que dizem a mesma coisa — ficam próximos no espaço de embedding, ou o modelo se confunde com a complexidade da forma?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B5BDB"/>
                </a:solidFill>
                <a:latin typeface="Calibri"/>
              </a:rPr>
              <a:t>DADOS DO PILOTO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Dois extremos encontrados no piloto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521208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56232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E8590C"/>
                </a:solidFill>
                <a:latin typeface="Calibri"/>
              </a:rPr>
              <a:t>MENOR SIMILARIDADE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Padre Antônio Vieira — Paradoxo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70632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495057"/>
                </a:solidFill>
                <a:latin typeface="Calibri"/>
              </a:rPr>
              <a:t>“É uma arte sem arte, caia onde cair”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93592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95057"/>
                </a:solidFill>
                <a:latin typeface="Calibri"/>
              </a:rPr>
              <a:t>→ “A pregação não deve seguir regras rígidas; deve ser simples e natural”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97680"/>
            <a:ext cx="4663440" cy="256032"/>
          </a:xfrm>
          <a:prstGeom prst="roundRect">
            <a:avLst>
              <a:gd name="adj" fmla="val 50000"/>
            </a:avLst>
          </a:prstGeom>
          <a:solidFill>
            <a:srgbClr val="E9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4297680"/>
            <a:ext cx="1958644" cy="256032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5902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90C"/>
                </a:solidFill>
                <a:latin typeface="Calibri"/>
              </a:rPr>
              <a:t>similaridade de cosseno ≈ 0,34 – 0,51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600200"/>
            <a:ext cx="521208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0" y="1856232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D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0CA678"/>
                </a:solidFill>
                <a:latin typeface="Calibri"/>
              </a:rPr>
              <a:t>MAIOR SIMILARIDADE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31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Machado de Assis — Zeugma (Quincas Borba)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70632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495057"/>
                </a:solidFill>
                <a:latin typeface="Calibri"/>
              </a:rPr>
              <a:t>“Nos pés, chinelas de damasco; na cabeça, um gorro de seda; na boca, um riso azul claro”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593592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95057"/>
                </a:solidFill>
                <a:latin typeface="Calibri"/>
              </a:rPr>
              <a:t>→ “Ele usava chinelos de damasco, um chapéu de seda, e mostrava um sorriso suave”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4297680"/>
            <a:ext cx="4663440" cy="256032"/>
          </a:xfrm>
          <a:prstGeom prst="roundRect">
            <a:avLst>
              <a:gd name="adj" fmla="val 50000"/>
            </a:avLst>
          </a:prstGeom>
          <a:solidFill>
            <a:srgbClr val="E9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0" y="4297680"/>
            <a:ext cx="4057192" cy="256032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45902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A678"/>
                </a:solidFill>
                <a:latin typeface="Calibri"/>
              </a:rPr>
              <a:t>similaridade de cosseno ≈ 0,87 – 0,88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07492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495057"/>
                </a:solidFill>
                <a:latin typeface="Calibri"/>
              </a:rPr>
              <a:t>Mesmo tamanho de escala (0 a 1): o paradoxo “deriva” muito mais no espaço de embedding do que o zeugma.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B5BDB"/>
                </a:solidFill>
                <a:latin typeface="Calibri"/>
              </a:rPr>
              <a:t>LEITURA PRELIMINAR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O que isso sugere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5212080" cy="3291840"/>
          </a:xfrm>
          <a:prstGeom prst="roundRect">
            <a:avLst>
              <a:gd name="adj" fmla="val 8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011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8590C"/>
                </a:solidFill>
                <a:latin typeface="Calibri"/>
              </a:rPr>
              <a:t>MAIS DERIVA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1">
                <a:solidFill>
                  <a:srgbClr val="1B2A4A"/>
                </a:solidFill>
                <a:latin typeface="Calibri"/>
              </a:rPr>
              <a:t>Paradoxo, Antítese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154680"/>
            <a:ext cx="45720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Figuras que exigem raciocínio lógico ou contradição aparente tendem a afastar mais o texto original de sua versão simples no espaço de embedding.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91640"/>
            <a:ext cx="5212080" cy="3291840"/>
          </a:xfrm>
          <a:prstGeom prst="roundRect">
            <a:avLst>
              <a:gd name="adj" fmla="val 8000"/>
            </a:avLst>
          </a:prstGeom>
          <a:solidFill>
            <a:srgbClr val="D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011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CA678"/>
                </a:solidFill>
                <a:latin typeface="Calibri"/>
              </a:rPr>
              <a:t>MENOS DERIVA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5603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1">
                <a:solidFill>
                  <a:srgbClr val="1B2A4A"/>
                </a:solidFill>
                <a:latin typeface="Calibri"/>
              </a:rPr>
              <a:t>Zeugma, Elipse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154680"/>
            <a:ext cx="45720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Figuras que são reconstrução sintática mais mecânica preservam melhor a proximidade entre original e versão simples.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12080"/>
            <a:ext cx="10911535" cy="914400"/>
          </a:xfrm>
          <a:prstGeom prst="roundRect">
            <a:avLst>
              <a:gd name="adj" fmla="val 10000"/>
            </a:avLst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1B2A4A"/>
                </a:solidFill>
                <a:latin typeface="Calibri"/>
              </a:rPr>
              <a:t>Achado preliminar: os modelos de embedding parecem depender mais da forma da frase do que seria ideal.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B5BDB"/>
                </a:solidFill>
                <a:latin typeface="Calibri"/>
              </a:rPr>
              <a:t>CONTINUIDADE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Próximos passos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868680" cy="868680"/>
          </a:xfrm>
          <a:prstGeom prst="ellipse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80136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Expandir o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8600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Mais exemplos por fenômeno linguístico, além do piloto atual (12 pares).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74420" y="2651760"/>
            <a:ext cx="0" cy="640080"/>
          </a:xfrm>
          <a:prstGeom prst="line">
            <a:avLst/>
          </a:prstGeom>
          <a:ln w="19050">
            <a:solidFill>
              <a:srgbClr val="D0D5D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640080" y="3291840"/>
            <a:ext cx="868680" cy="868680"/>
          </a:xfrm>
          <a:prstGeom prst="ellipse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31012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Testar correlação com o tamanho do texto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79476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Verificar se a extensão do fragmento, por si só, explica parte da deriva observada.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74420" y="4160520"/>
            <a:ext cx="0" cy="640080"/>
          </a:xfrm>
          <a:prstGeom prst="line">
            <a:avLst/>
          </a:prstGeom>
          <a:ln w="19050">
            <a:solidFill>
              <a:srgbClr val="D0D5D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40080" y="4800600"/>
            <a:ext cx="868680" cy="868680"/>
          </a:xfrm>
          <a:prstGeom prst="ellipse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81888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Análise estatística mais robusta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30352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Comparações consistentes por categoria de fenômeno, com significância estatística.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