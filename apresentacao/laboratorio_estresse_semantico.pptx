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3" r:id="rId14"/>
    <p:sldId id="257" r:id="rId8"/>
    <p:sldId id="258" r:id="rId9"/>
    <p:sldId id="259" r:id="rId10"/>
    <p:sldId id="264" r:id="rId15"/>
    <p:sldId id="265" r:id="rId16"/>
    <p:sldId id="260" r:id="rId11"/>
    <p:sldId id="261" r:id="rId12"/>
    <p:sldId id="266" r:id="rId17"/>
    <p:sldId id="267" r:id="rId18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bruna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formula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E7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D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1B2A4A"/>
                </a:solidFill>
                <a:latin typeface="Calibri"/>
              </a:rPr>
              <a:t>Laboratório de Estresse Semântico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495057"/>
                </a:solidFill>
                <a:latin typeface="Calibri"/>
              </a:rPr>
              <a:t>Medindo como a complexidade literária afeta modelos de embedding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DB"/>
                </a:solidFill>
                <a:latin typeface="Calibri"/>
              </a:rPr>
              <a:t>BGE-M3   ·   LaBSE   ·   EmbeddingGemma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B5BDB"/>
                </a:solidFill>
                <a:latin typeface="Calibri"/>
              </a:rPr>
              <a:t>CONCEITO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O que é um embedding?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B2A4A"/>
                </a:solidFill>
                <a:latin typeface="Calibri"/>
              </a:rPr>
              <a:t>Um embedding transforma um texto em uma lista de números (um vetor) — um ponto num espaço matemático de muitas dimensões.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800" b="0" i="0">
                <a:solidFill>
                  <a:srgbClr val="495057"/>
                </a:solidFill>
                <a:latin typeface="Calibri"/>
              </a:rPr>
              <a:t>Textos com significado parecido caem em pontos próximos nesse espaço.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800" b="0" i="0">
                <a:solidFill>
                  <a:srgbClr val="495057"/>
                </a:solidFill>
                <a:latin typeface="Calibri"/>
              </a:rPr>
              <a:t>Textos com significado diferente caem em pontos distantes.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532120"/>
            <a:ext cx="5029200" cy="777240"/>
          </a:xfrm>
          <a:prstGeom prst="roundRect">
            <a:avLst>
              <a:gd name="adj" fmla="val 18000"/>
            </a:avLst>
          </a:prstGeom>
          <a:solidFill>
            <a:srgbClr val="E7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1B2A4A"/>
                </a:solidFill>
                <a:latin typeface="Calibri"/>
              </a:rPr>
              <a:t>Pense num mapa: frases parecidas “moram perto” umas das outras.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00200"/>
            <a:ext cx="5212080" cy="44348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18120" y="3017520"/>
            <a:ext cx="310896" cy="310896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0" y="3337560"/>
            <a:ext cx="256032" cy="256032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0" y="3520440"/>
            <a:ext cx="219456" cy="219456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88620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495057"/>
                </a:solidFill>
                <a:latin typeface="Calibri"/>
              </a:rPr>
              <a:t>“O gato dorme no sofá”</a:t>
            </a:r>
          </a:p>
          <a:p>
            <a:pPr algn="ctr">
              <a:spcBef>
                <a:spcPts val="0"/>
              </a:spcBef>
            </a:pPr>
            <a:r>
              <a:rPr sz="1250" b="0" i="0">
                <a:solidFill>
                  <a:srgbClr val="495057"/>
                </a:solidFill>
                <a:latin typeface="Calibri"/>
              </a:rPr>
              <a:t>“O felino descansa no sofá”</a:t>
            </a:r>
          </a:p>
        </p:txBody>
      </p:sp>
      <p:sp>
        <p:nvSpPr>
          <p:cNvPr id="11" name="Oval 10"/>
          <p:cNvSpPr/>
          <p:nvPr/>
        </p:nvSpPr>
        <p:spPr>
          <a:xfrm>
            <a:off x="10012679" y="4663440"/>
            <a:ext cx="310896" cy="31089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59" y="5074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495057"/>
                </a:solidFill>
                <a:latin typeface="Calibri"/>
              </a:rPr>
              <a:t>“A bolsa caiu hoje”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73568" y="3172968"/>
            <a:ext cx="2194559" cy="1645920"/>
          </a:xfrm>
          <a:prstGeom prst="line">
            <a:avLst/>
          </a:prstGeom>
          <a:ln w="12700">
            <a:solidFill>
              <a:srgbClr val="868E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0" y="5532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CA678"/>
                </a:solidFill>
              </a:rPr>
              <a:t>●  </a:t>
            </a:r>
            <a:r>
              <a:rPr sz="1200">
                <a:solidFill>
                  <a:srgbClr val="495057"/>
                </a:solidFill>
                <a:latin typeface="Calibri"/>
              </a:rPr>
              <a:t>significado parecido      </a:t>
            </a:r>
            <a:r>
              <a:rPr sz="1300" b="1">
                <a:solidFill>
                  <a:srgbClr val="E8590C"/>
                </a:solidFill>
              </a:rPr>
              <a:t>●  </a:t>
            </a:r>
            <a:r>
              <a:rPr sz="1200">
                <a:solidFill>
                  <a:srgbClr val="495057"/>
                </a:solidFill>
                <a:latin typeface="Calibri"/>
              </a:rPr>
              <a:t>significado diferente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68E96"/>
                </a:solidFill>
                <a:latin typeface="Calibri"/>
              </a:rPr>
              <a:t>Laboratório de Estresse Semântico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68E9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B5BDB"/>
                </a:solidFill>
                <a:latin typeface="Calibri"/>
              </a:rP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Os três modelos testados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429000" cy="2880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640080" y="1737360"/>
            <a:ext cx="3429000" cy="109728"/>
          </a:xfrm>
          <a:prstGeom prst="round2Same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Calibri"/>
              </a:rPr>
              <a:t>BGE-M3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7004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5BDB"/>
                </a:solidFill>
                <a:latin typeface="Calibri"/>
              </a:rPr>
              <a:t>BAAI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495057"/>
                </a:solidFill>
                <a:latin typeface="Calibri"/>
              </a:rPr>
              <a:t>Modelo multilíngue de última geração, forte em recuperação de texto.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2880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4389120" y="1737360"/>
            <a:ext cx="3429000" cy="109728"/>
          </a:xfrm>
          <a:prstGeom prst="round2Same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Calibri"/>
              </a:rPr>
              <a:t>LaBSE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5BDB"/>
                </a:solidFill>
                <a:latin typeface="Calibri"/>
              </a:rPr>
              <a:t>GOOGLE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5468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495057"/>
                </a:solidFill>
                <a:latin typeface="Calibri"/>
              </a:rPr>
              <a:t>Especializado em alinhamento de frases entre idiomas diferentes.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429000" cy="2880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8138160" y="1737360"/>
            <a:ext cx="3429000" cy="109728"/>
          </a:xfrm>
          <a:prstGeom prst="round2Same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4884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Calibri"/>
              </a:rPr>
              <a:t>EmbeddingGemma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7004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5BDB"/>
                </a:solidFill>
                <a:latin typeface="Calibri"/>
              </a:rPr>
              <a:t>GOOGLE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5468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495057"/>
                </a:solidFill>
                <a:latin typeface="Calibri"/>
              </a:rPr>
              <a:t>Modelo leve, roda localmente com poucos recursos.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9200"/>
            <a:ext cx="10911535" cy="1051560"/>
          </a:xfrm>
          <a:prstGeom prst="roundRect">
            <a:avLst>
              <a:gd name="adj" fmla="val 10000"/>
            </a:avLst>
          </a:prstGeom>
          <a:solidFill>
            <a:srgbClr val="E7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Por que três modelos, não um só?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450" b="0" i="0">
                <a:solidFill>
                  <a:srgbClr val="495057"/>
                </a:solidFill>
                <a:latin typeface="Calibri"/>
              </a:rPr>
              <a:t>Para verificar se um efeito observado é consistente entre arquiteturas diferentes — ou se é peculiaridade de um único modelo.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68E96"/>
                </a:solidFill>
                <a:latin typeface="Calibri"/>
              </a:rPr>
              <a:t>Laboratório de Estresse Semântico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68E9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B5BDB"/>
                </a:solidFill>
                <a:latin typeface="Calibri"/>
              </a:rPr>
              <a:t>DESENHO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 ideia central: tradução intralingual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495057"/>
                </a:solidFill>
                <a:latin typeface="Calibri"/>
              </a:rPr>
              <a:t>Pegamos um trecho literário complexo (metáfora, hipérbato, paradoxo...) e o reescrevemos de forma direta e simples, preservando o mesmo significado.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0604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 i="0">
                <a:solidFill>
                  <a:srgbClr val="1B2A4A"/>
                </a:solidFill>
                <a:latin typeface="Calibri"/>
              </a:rPr>
              <a:t>Texto original (complexo)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7764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D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 i="0">
                <a:solidFill>
                  <a:srgbClr val="1B2A4A"/>
                </a:solidFill>
                <a:latin typeface="Calibri"/>
              </a:rPr>
              <a:t>Texto simplificado (mesmo significado)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3063240"/>
            <a:ext cx="1234440" cy="0"/>
          </a:xfrm>
          <a:prstGeom prst="line">
            <a:avLst/>
          </a:prstGeom>
          <a:ln w="22225">
            <a:solidFill>
              <a:srgbClr val="868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0" y="4434840"/>
            <a:ext cx="1234440" cy="0"/>
          </a:xfrm>
          <a:prstGeom prst="line">
            <a:avLst/>
          </a:prstGeom>
          <a:ln w="22225">
            <a:solidFill>
              <a:srgbClr val="868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260604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68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vetor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397764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68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vetor 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29400" y="3063240"/>
            <a:ext cx="1645920" cy="228600"/>
          </a:xfrm>
          <a:prstGeom prst="line">
            <a:avLst/>
          </a:prstGeom>
          <a:ln w="22225">
            <a:solidFill>
              <a:srgbClr val="868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29400" y="3291840"/>
            <a:ext cx="1645920" cy="1143000"/>
          </a:xfrm>
          <a:prstGeom prst="line">
            <a:avLst/>
          </a:prstGeom>
          <a:ln w="22225">
            <a:solidFill>
              <a:srgbClr val="868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75320" y="2834640"/>
            <a:ext cx="3291840" cy="914400"/>
          </a:xfrm>
          <a:prstGeom prst="roundRect">
            <a:avLst>
              <a:gd name="adj" fmla="val 16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Similaridade de Cosseno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0 (distante)  →  1 (idêntico)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4924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l">
              <a:lnSpc>
                <a:spcPct val="112000"/>
              </a:lnSpc>
            </a:pPr>
            <a:r>
              <a:rPr sz="1500" b="0" i="1">
                <a:solidFill>
                  <a:srgbClr val="1B2A4A"/>
                </a:solidFill>
                <a:latin typeface="Calibri"/>
              </a:rPr>
              <a:t>Pergunta central: o texto complicado e sua versão simples — que dizem a mesma coisa — ficam próximos no espaço de embedding, ou o modelo se confunde com a complexidade da forma?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68E96"/>
                </a:solidFill>
                <a:latin typeface="Calibri"/>
              </a:rPr>
              <a:t>Laboratório de Estresse Semântico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68E9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B5BDB"/>
                </a:solidFill>
                <a:latin typeface="Calibri"/>
              </a:rPr>
              <a:t>DADOS DO PILOTO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Dois extremos encontrados no piloto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12080" cy="32461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5623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8590C"/>
                </a:solidFill>
                <a:latin typeface="Calibri"/>
              </a:rPr>
              <a:t>MENOR SIMILARIDADE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Padre Antônio Vieira — Paradoxo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7063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495057"/>
                </a:solidFill>
                <a:latin typeface="Calibri"/>
              </a:rPr>
              <a:t>“É uma arte sem arte, caia onde cair”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9359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95057"/>
                </a:solidFill>
                <a:latin typeface="Calibri"/>
              </a:rPr>
              <a:t>→ “A pregação não deve seguir regras rígidas; deve ser simples e natural”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4663440" cy="256032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4297680"/>
            <a:ext cx="1958644" cy="25603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902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590C"/>
                </a:solidFill>
                <a:latin typeface="Calibri"/>
              </a:rPr>
              <a:t>similaridade de cosseno ≈ 0,34 – 0,51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00200"/>
            <a:ext cx="5212080" cy="32461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185623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D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CA678"/>
                </a:solidFill>
                <a:latin typeface="Calibri"/>
              </a:rPr>
              <a:t>MAIOR SIMILARIDADE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Machado de Assis — Zeugma (Quincas Borba)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7063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495057"/>
                </a:solidFill>
                <a:latin typeface="Calibri"/>
              </a:rPr>
              <a:t>“Nos pés, chinelas de damasco; na cabeça, um gorro de seda; na boca, um riso azul claro”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9359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95057"/>
                </a:solidFill>
                <a:latin typeface="Calibri"/>
              </a:rPr>
              <a:t>→ “Ele usava chinelos de damasco, um chapéu de seda, e mostrava um sorriso suave”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297680"/>
            <a:ext cx="4663440" cy="256032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4297680"/>
            <a:ext cx="4057192" cy="256032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5902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CA678"/>
                </a:solidFill>
                <a:latin typeface="Calibri"/>
              </a:rPr>
              <a:t>similaridade de cosseno ≈ 0,87 – 0,88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495057"/>
                </a:solidFill>
                <a:latin typeface="Calibri"/>
              </a:rPr>
              <a:t>Mesmo tamanho de escala (0 a 1): o paradoxo “deriva” muito mais no espaço de embedding do que o zeugma.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68E96"/>
                </a:solidFill>
                <a:latin typeface="Calibri"/>
              </a:rPr>
              <a:t>Laboratório de Estresse Semântico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68E9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B5BDB"/>
                </a:solidFill>
                <a:latin typeface="Calibri"/>
              </a:rPr>
              <a:t>LEITURA PRELIMINAR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O que isso sugere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3291840"/>
          </a:xfrm>
          <a:prstGeom prst="roundRect">
            <a:avLst>
              <a:gd name="adj" fmla="val 8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8590C"/>
                </a:solidFill>
                <a:latin typeface="Calibri"/>
              </a:rPr>
              <a:t>MAIS DERIVA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1">
                <a:solidFill>
                  <a:srgbClr val="1B2A4A"/>
                </a:solidFill>
                <a:latin typeface="Calibri"/>
              </a:rPr>
              <a:t>Paradoxo, Antítese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495057"/>
                </a:solidFill>
                <a:latin typeface="Calibri"/>
              </a:rPr>
              <a:t>Figuras que exigem raciocínio lógico ou contradição aparente tendem a afastar mais o texto original de sua versão simples no espaço de embedding.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212080" cy="3291840"/>
          </a:xfrm>
          <a:prstGeom prst="roundRect">
            <a:avLst>
              <a:gd name="adj" fmla="val 8000"/>
            </a:avLst>
          </a:prstGeom>
          <a:solidFill>
            <a:srgbClr val="D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CA678"/>
                </a:solidFill>
                <a:latin typeface="Calibri"/>
              </a:rPr>
              <a:t>MENOS DERIVA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60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1">
                <a:solidFill>
                  <a:srgbClr val="1B2A4A"/>
                </a:solidFill>
                <a:latin typeface="Calibri"/>
              </a:rPr>
              <a:t>Zeugma, Elipse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15468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495057"/>
                </a:solidFill>
                <a:latin typeface="Calibri"/>
              </a:rPr>
              <a:t>Figuras que são reconstrução sintática mais mecânica preservam melhor a proximidade entre original e versão simples.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1208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E7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1B2A4A"/>
                </a:solidFill>
                <a:latin typeface="Calibri"/>
              </a:rPr>
              <a:t>Achado preliminar: os modelos de embedding parecem depender mais da forma da frase do que seria ideal.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68E96"/>
                </a:solidFill>
                <a:latin typeface="Calibri"/>
              </a:rPr>
              <a:t>Laboratório de Estresse Semântico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68E9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B5BDB"/>
                </a:solidFill>
                <a:latin typeface="Calibri"/>
              </a:rPr>
              <a:t>CONTINUIDADE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Próximos passos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0136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Expandir o dataset (concluído)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495057"/>
                </a:solidFill>
                <a:latin typeface="Calibri"/>
              </a:rPr>
              <a:t>Dataset ampliado de 12 para 25 pares — mais Camões, Gregório de Matos, Machado de Assis e Fernando Pessoa/Ricardo Reis (Seção 8 do notebook).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4420" y="2651760"/>
            <a:ext cx="0" cy="640080"/>
          </a:xfrm>
          <a:prstGeom prst="line">
            <a:avLst/>
          </a:prstGeom>
          <a:ln w="19050">
            <a:solidFill>
              <a:srgbClr val="D0D5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1012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Testar correlação com o tamanho do 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94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495057"/>
                </a:solidFill>
                <a:latin typeface="Calibri"/>
              </a:rPr>
              <a:t>Verificar se a extensão do fragmento, por si só, explica parte da deriva observada.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74420" y="4160520"/>
            <a:ext cx="0" cy="640080"/>
          </a:xfrm>
          <a:prstGeom prst="line">
            <a:avLst/>
          </a:prstGeom>
          <a:ln w="19050">
            <a:solidFill>
              <a:srgbClr val="D0D5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40080" y="4800600"/>
            <a:ext cx="868680" cy="868680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81888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Análise estatística mais robusta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0352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495057"/>
                </a:solidFill>
                <a:latin typeface="Calibri"/>
              </a:rPr>
              <a:t>Com n=25, Paradoxo, Antítese, Hipérbato e Zeugma já têm múltiplas observações (Seção 8) — e a hierarquia original não se sustentou. Falta balancear autocontido/dependente de contexto dentro de cada fenômeno para separar os dois efeitos.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68E96"/>
                </a:solidFill>
                <a:latin typeface="Calibri"/>
              </a:rPr>
              <a:t>Laboratório de Estresse Semântico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68E9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5BDB"/>
                </a:solidFill>
                <a:latin typeface="Calibri"/>
              </a:rPr>
              <a:t>ORIGEM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De onde veio a ideia</a:t>
            </a:r>
          </a:p>
        </p:txBody>
      </p:sp>
      <p:sp>
        <p:nvSpPr>
          <p:cNvPr id="4" name="Ring"/>
          <p:cNvSpPr/>
          <p:nvPr/>
        </p:nvSpPr>
        <p:spPr>
          <a:xfrm>
            <a:off x="1463040" y="1508760"/>
            <a:ext cx="3383280" cy="3383280"/>
          </a:xfrm>
          <a:prstGeom prst="ellipse">
            <a:avLst/>
          </a:prstGeom>
          <a:solidFill>
            <a:srgbClr val="E7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Foto Bruna Martioll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00200"/>
            <a:ext cx="3200400" cy="3200400"/>
          </a:xfrm>
          <a:prstGeom prst="ellipse">
            <a:avLst/>
          </a:prstGeom>
          <a:ln w="38100">
            <a:solidFill>
              <a:srgbClr val="FFFFFF"/>
            </a:solidFill>
          </a:ln>
          <a:effectLst/>
        </p:spPr>
      </p:pic>
      <p:sp>
        <p:nvSpPr>
          <p:cNvPr id="6" name="TextBox 6"/>
          <p:cNvSpPr txBox="1"/>
          <p:nvPr/>
        </p:nvSpPr>
        <p:spPr>
          <a:xfrm>
            <a:off x="640080" y="50292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A4A"/>
                </a:solidFill>
                <a:latin typeface="Calibri"/>
              </a:rPr>
              <a:t>Bruna Martiolli</a:t>
            </a:r>
          </a:p>
          <a:p>
            <a:pPr algn="ctr">
              <a:lnSpc>
                <a:spcPct val="115000"/>
              </a:lnSpc>
              <a:spcBef>
                <a:spcPts val="1300"/>
              </a:spcBef>
            </a:pPr>
            <a:r>
              <a:rPr sz="1250" b="0" i="0">
                <a:solidFill>
                  <a:srgbClr val="868E96"/>
                </a:solidFill>
                <a:latin typeface="Calibri"/>
              </a:rPr>
              <a:t>Professora de Literatura — doutoranda, pesquisa sobre Agustina Bessa-Luís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63640" y="1600200"/>
            <a:ext cx="5212080" cy="3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A4A"/>
                </a:solidFill>
                <a:latin typeface="Calibri"/>
              </a:rPr>
              <a:t>Tudo começou ao assistir a um vídeo da professora de literatura Bruna Martiolli, que faz doutorado sobre Agustina Bessa-Luís.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500" b="0" i="0">
                <a:solidFill>
                  <a:srgbClr val="495057"/>
                </a:solidFill>
                <a:latin typeface="Calibri"/>
              </a:rPr>
              <a:t>Ela comentou que tinha dificuldade em usar IA no seu trabalho: os modelos não conseguiam interpretar bem os textos literários complexos que ela analisa.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500" b="0" i="0">
                <a:solidFill>
                  <a:srgbClr val="495057"/>
                </a:solidFill>
                <a:latin typeface="Calibri"/>
              </a:rPr>
              <a:t>Como, eu estava estudando embeddings — virou uma pergunta de pesquisa: será que uma frase complexa e sua versão simplificada, com o mesmo significado, ficam realmente próximas quando processadas por um modelo de embedding?</a:t>
            </a:r>
          </a:p>
        </p:txBody>
      </p:sp>
      <p:sp>
        <p:nvSpPr>
          <p:cNvPr id="8" name="Rounded Rectangle 8"/>
          <p:cNvSpPr/>
          <p:nvPr/>
        </p:nvSpPr>
        <p:spPr>
          <a:xfrm>
            <a:off x="6263640" y="5532120"/>
            <a:ext cx="5212080" cy="777240"/>
          </a:xfrm>
          <a:prstGeom prst="roundRect">
            <a:avLst>
              <a:gd name="adj" fmla="val 10000"/>
            </a:avLst>
          </a:prstGeom>
          <a:solidFill>
            <a:srgbClr val="E7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lnSpc>
                <a:spcPct val="112000"/>
              </a:lnSpc>
            </a:pPr>
            <a:r>
              <a:rPr sz="1400" b="0" i="1">
                <a:solidFill>
                  <a:srgbClr val="1B2A4A"/>
                </a:solidFill>
                <a:latin typeface="Calibri"/>
              </a:rPr>
              <a:t>Se o modelo de embedding realmente capturasse o sentido profundo, as duas versões deveriam ficar “próximas” no espaço vetorial, independente da complexidade da escrita.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68E96"/>
                </a:solidFill>
                <a:latin typeface="Calibri"/>
              </a:rPr>
              <a:t>Laboratório de Estresse Semântico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68E9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5BDB"/>
                </a:solidFill>
                <a:latin typeface="Calibri"/>
              </a:rPr>
              <a:t>MATEMÁTICA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Como o cosseno mede a similaridade</a:t>
            </a:r>
          </a:p>
        </p:txBody>
      </p:sp>
      <p:pic>
        <p:nvPicPr>
          <p:cNvPr id="4" name="Fórmula similaridade de cosse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847" y="1706880"/>
            <a:ext cx="5200000" cy="1315057"/>
          </a:xfrm>
          <a:prstGeom prst="rect">
            <a:avLst/>
          </a:prstGeom>
          <a:effectLst/>
        </p:spPr>
      </p:pic>
      <p:sp>
        <p:nvSpPr>
          <p:cNvPr id="5" name="TextBox 5"/>
          <p:cNvSpPr txBox="1"/>
          <p:nvPr/>
        </p:nvSpPr>
        <p:spPr>
          <a:xfrm>
            <a:off x="640080" y="3341977"/>
            <a:ext cx="5029200" cy="2867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3B5BDB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1B2A4A"/>
                </a:solidFill>
                <a:latin typeface="Calibri"/>
              </a:rPr>
              <a:t>A e B</a:t>
            </a:r>
            <a:r>
              <a:rPr sz="1400" b="0" i="0">
                <a:solidFill>
                  <a:srgbClr val="495057"/>
                </a:solidFill>
                <a:latin typeface="Calibri"/>
              </a:rPr>
              <a:t> são os vetores (embeddings) dos dois textos sendo comparados.</a:t>
            </a:r>
          </a:p>
          <a:p>
            <a:pPr algn="l">
              <a:lnSpc>
                <a:spcPct val="112000"/>
              </a:lnSpc>
              <a:spcBef>
                <a:spcPts val="1300"/>
              </a:spcBef>
            </a:pPr>
            <a:r>
              <a:rPr sz="1300" b="1" i="0">
                <a:solidFill>
                  <a:srgbClr val="3B5BDB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1B2A4A"/>
                </a:solidFill>
                <a:latin typeface="Calibri"/>
              </a:rPr>
              <a:t>Numerador (A · B)</a:t>
            </a:r>
            <a:r>
              <a:rPr sz="1400" b="0" i="0">
                <a:solidFill>
                  <a:srgbClr val="495057"/>
                </a:solidFill>
                <a:latin typeface="Calibri"/>
              </a:rPr>
              <a:t> é o produto escalar entre os vetores.</a:t>
            </a:r>
          </a:p>
          <a:p>
            <a:pPr algn="l">
              <a:lnSpc>
                <a:spcPct val="112000"/>
              </a:lnSpc>
              <a:spcBef>
                <a:spcPts val="1300"/>
              </a:spcBef>
            </a:pPr>
            <a:r>
              <a:rPr sz="1300" b="1" i="0">
                <a:solidFill>
                  <a:srgbClr val="3B5BDB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1B2A4A"/>
                </a:solidFill>
                <a:latin typeface="Calibri"/>
              </a:rPr>
              <a:t>Denominador (‖A‖ × ‖B‖)</a:t>
            </a:r>
            <a:r>
              <a:rPr sz="1400" b="0" i="0">
                <a:solidFill>
                  <a:srgbClr val="495057"/>
                </a:solidFill>
                <a:latin typeface="Calibri"/>
              </a:rPr>
              <a:t> normaliza pelo tamanho (norma) de cada vetor.</a:t>
            </a:r>
          </a:p>
          <a:p>
            <a:pPr algn="l">
              <a:lnSpc>
                <a:spcPct val="112000"/>
              </a:lnSpc>
              <a:spcBef>
                <a:spcPts val="1300"/>
              </a:spcBef>
            </a:pPr>
            <a:r>
              <a:rPr sz="1300" b="1" i="0">
                <a:solidFill>
                  <a:srgbClr val="3B5BDB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1B2A4A"/>
                </a:solidFill>
                <a:latin typeface="Calibri"/>
              </a:rPr>
              <a:t>Resultado</a:t>
            </a:r>
            <a:r>
              <a:rPr sz="1400" b="0" i="0">
                <a:solidFill>
                  <a:srgbClr val="495057"/>
                </a:solidFill>
                <a:latin typeface="Calibri"/>
              </a:rPr>
              <a:t> varia de −1 a 1: quanto mais perto de 1, mais “parecidos” os textos são; quanto mais perto de 0, mais diferentes.</a:t>
            </a:r>
          </a:p>
        </p:txBody>
      </p:sp>
      <p:sp>
        <p:nvSpPr>
          <p:cNvPr id="6" name="Rounded Rectangle 6"/>
          <p:cNvSpPr/>
          <p:nvPr/>
        </p:nvSpPr>
        <p:spPr>
          <a:xfrm>
            <a:off x="6263640" y="3341977"/>
            <a:ext cx="5212080" cy="28679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6492240" y="3524857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1B2A4A"/>
                </a:solidFill>
                <a:latin typeface="Calibri"/>
              </a:rPr>
              <a:t>Ângulo pequeno → maior similaridade  ·  ângulo grande → menor similaridade</a:t>
            </a:r>
          </a:p>
        </p:txBody>
      </p:sp>
      <p:cxnSp>
        <p:nvCxnSpPr>
          <p:cNvPr id="8" name="Connector 8"/>
          <p:cNvCxnSpPr/>
          <p:nvPr/>
        </p:nvCxnSpPr>
        <p:spPr>
          <a:xfrm flipV="1">
            <a:off x="7163640" y="4312715"/>
            <a:ext cx="1189157" cy="1417182"/>
          </a:xfrm>
          <a:prstGeom prst="line">
            <a:avLst/>
          </a:prstGeom>
          <a:ln w="2540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9"/>
          <p:cNvCxnSpPr/>
          <p:nvPr/>
        </p:nvCxnSpPr>
        <p:spPr>
          <a:xfrm flipV="1">
            <a:off x="7163640" y="5251082"/>
            <a:ext cx="1786962" cy="478815"/>
          </a:xfrm>
          <a:prstGeom prst="line">
            <a:avLst/>
          </a:prstGeom>
          <a:ln w="2540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rc 10"/>
          <p:cNvSpPr/>
          <p:nvPr/>
        </p:nvSpPr>
        <p:spPr>
          <a:xfrm>
            <a:off x="6543640" y="5109897"/>
            <a:ext cx="1240000" cy="1240000"/>
          </a:xfrm>
          <a:prstGeom prst="arc">
            <a:avLst>
              <a:gd name="adj1" fmla="val 18600000"/>
              <a:gd name="adj2" fmla="val 20700000"/>
            </a:avLst>
          </a:prstGeom>
          <a:ln w="19050">
            <a:solidFill>
              <a:srgbClr val="3B5B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1"/>
          <p:cNvSpPr txBox="1"/>
          <p:nvPr/>
        </p:nvSpPr>
        <p:spPr>
          <a:xfrm>
            <a:off x="7688353" y="5150058"/>
            <a:ext cx="3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B5BDB"/>
                </a:solidFill>
                <a:latin typeface="Calibri"/>
              </a:rPr>
              <a:t>θ</a:t>
            </a:r>
          </a:p>
        </p:txBody>
      </p:sp>
      <p:sp>
        <p:nvSpPr>
          <p:cNvPr id="12" name="Oval 12"/>
          <p:cNvSpPr/>
          <p:nvPr/>
        </p:nvSpPr>
        <p:spPr>
          <a:xfrm>
            <a:off x="7123640" y="5689897"/>
            <a:ext cx="80000" cy="800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3"/>
          <p:cNvSpPr txBox="1"/>
          <p:nvPr/>
        </p:nvSpPr>
        <p:spPr>
          <a:xfrm>
            <a:off x="8392797" y="3972715"/>
            <a:ext cx="3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alibri"/>
              </a:rPr>
              <a:t>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10602" y="5111082"/>
            <a:ext cx="3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alibri"/>
              </a:rPr>
              <a:t>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68E96"/>
                </a:solidFill>
                <a:latin typeface="Calibri"/>
              </a:rPr>
              <a:t>Laboratório de Estresse Semântico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68E9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5BDB"/>
                </a:solidFill>
                <a:latin typeface="Calibri"/>
              </a:rPr>
              <a:t>EXEMPLO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Um par do dataset: antítese em Vieira</a:t>
            </a:r>
          </a:p>
        </p:txBody>
      </p:sp>
      <p:sp>
        <p:nvSpPr>
          <p:cNvPr id="4" name="Rounded Rectangle 4"/>
          <p:cNvSpPr/>
          <p:nvPr/>
        </p:nvSpPr>
        <p:spPr>
          <a:xfrm>
            <a:off x="640080" y="1600200"/>
            <a:ext cx="5029200" cy="1350000"/>
          </a:xfrm>
          <a:prstGeom prst="roundRect">
            <a:avLst>
              <a:gd name="adj" fmla="val 6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E8590C"/>
                </a:solidFill>
                <a:latin typeface="Calibri"/>
              </a:rPr>
              <a:t>TEXTO ORIGINAL (COMPLEXO)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400" b="0" i="1">
                <a:solidFill>
                  <a:srgbClr val="1B2A4A"/>
                </a:solidFill>
                <a:latin typeface="Calibri"/>
              </a:rPr>
              <a:t>“Mas ainda a [desgraça] do semeador do nosso Evangelho não foi a maior. A maior é a que se tem experimentado na seara aonde eu fui, e para onde venho.”</a:t>
            </a:r>
          </a:p>
        </p:txBody>
      </p:sp>
      <p:sp>
        <p:nvSpPr>
          <p:cNvPr id="5" name="Rounded Rectangle 5"/>
          <p:cNvSpPr/>
          <p:nvPr/>
        </p:nvSpPr>
        <p:spPr>
          <a:xfrm>
            <a:off x="6263640" y="1600200"/>
            <a:ext cx="5212080" cy="1350000"/>
          </a:xfrm>
          <a:prstGeom prst="roundRect">
            <a:avLst>
              <a:gd name="adj" fmla="val 6000"/>
            </a:avLst>
          </a:prstGeom>
          <a:solidFill>
            <a:srgbClr val="D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CA678"/>
                </a:solidFill>
                <a:latin typeface="Calibri"/>
              </a:rPr>
              <a:t>TEXTO SIMPLIFICADO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400" b="0" i="1">
                <a:solidFill>
                  <a:srgbClr val="1B2A4A"/>
                </a:solidFill>
                <a:latin typeface="Calibri"/>
              </a:rPr>
              <a:t>“No entanto, o sofrimento dos pregadores do Evangelho em geral não foi o pior. O pior sofrimento é aquele que os missionários vivenciaram na região do Maranhão, de onde eu voltei recentemente e para onde pretendo ir novamente.”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0080" y="3178800"/>
            <a:ext cx="10911535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95057"/>
                </a:solidFill>
                <a:latin typeface="Calibri"/>
              </a:rPr>
              <a:t>Ambos dizem essencialmente a mesma coisa, mas o original usa a antítese retórica de Vieira (“não foi a maior… a maior é…”), enquanto a versão simplificada reescreve isso de forma direta. Esse é um dos pares com maior divergência entre os três modelos testados na análise exploratória.</a:t>
            </a:r>
          </a:p>
        </p:txBody>
      </p:sp>
      <p:sp>
        <p:nvSpPr>
          <p:cNvPr id="7" name="Rounded Rectangle 7"/>
          <p:cNvSpPr/>
          <p:nvPr/>
        </p:nvSpPr>
        <p:spPr>
          <a:xfrm>
            <a:off x="640080" y="4157400"/>
            <a:ext cx="3484778" cy="685800"/>
          </a:xfrm>
          <a:prstGeom prst="roundRect">
            <a:avLst>
              <a:gd name="adj" fmla="val 1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50" b="1" i="0">
                <a:solidFill>
                  <a:srgbClr val="1B2A4A"/>
                </a:solidFill>
                <a:latin typeface="Calibri"/>
              </a:rPr>
              <a:t>BGE-M3  </a:t>
            </a:r>
            <a:r>
              <a:rPr sz="1450" b="0" i="0">
                <a:solidFill>
                  <a:srgbClr val="868E96"/>
                </a:solidFill>
                <a:latin typeface="Calibri"/>
              </a:rPr>
              <a:t>≈ 0,71</a:t>
            </a:r>
          </a:p>
        </p:txBody>
      </p:sp>
      <p:sp>
        <p:nvSpPr>
          <p:cNvPr id="8" name="Rounded Rectangle 8"/>
          <p:cNvSpPr/>
          <p:nvPr/>
        </p:nvSpPr>
        <p:spPr>
          <a:xfrm>
            <a:off x="4353458" y="4157400"/>
            <a:ext cx="3484778" cy="685800"/>
          </a:xfrm>
          <a:prstGeom prst="roundRect">
            <a:avLst>
              <a:gd name="adj" fmla="val 1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50" b="1" i="0">
                <a:solidFill>
                  <a:srgbClr val="1B2A4A"/>
                </a:solidFill>
                <a:latin typeface="Calibri"/>
              </a:rPr>
              <a:t>LaBSE  </a:t>
            </a:r>
            <a:r>
              <a:rPr sz="1450" b="0" i="0">
                <a:solidFill>
                  <a:srgbClr val="868E96"/>
                </a:solidFill>
                <a:latin typeface="Calibri"/>
              </a:rPr>
              <a:t>≈ 0,74</a:t>
            </a:r>
          </a:p>
        </p:txBody>
      </p:sp>
      <p:sp>
        <p:nvSpPr>
          <p:cNvPr id="9" name="Rounded Rectangle 9"/>
          <p:cNvSpPr/>
          <p:nvPr/>
        </p:nvSpPr>
        <p:spPr>
          <a:xfrm>
            <a:off x="8066836" y="4157400"/>
            <a:ext cx="3484778" cy="685800"/>
          </a:xfrm>
          <a:prstGeom prst="roundRect">
            <a:avLst>
              <a:gd name="adj" fmla="val 1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50" b="1" i="0">
                <a:solidFill>
                  <a:srgbClr val="1B2A4A"/>
                </a:solidFill>
                <a:latin typeface="Calibri"/>
              </a:rPr>
              <a:t>EmbeddingGemma  </a:t>
            </a:r>
            <a:r>
              <a:rPr sz="1450" b="0" i="0">
                <a:solidFill>
                  <a:srgbClr val="868E96"/>
                </a:solidFill>
                <a:latin typeface="Calibri"/>
              </a:rPr>
              <a:t>≈ 0,60</a:t>
            </a:r>
          </a:p>
        </p:txBody>
      </p:sp>
      <p:sp>
        <p:nvSpPr>
          <p:cNvPr id="10" name="Rounded Rectangle 10"/>
          <p:cNvSpPr/>
          <p:nvPr/>
        </p:nvSpPr>
        <p:spPr>
          <a:xfrm>
            <a:off x="640080" y="5532120"/>
            <a:ext cx="10911535" cy="777240"/>
          </a:xfrm>
          <a:prstGeom prst="roundRect">
            <a:avLst>
              <a:gd name="adj" fmla="val 10000"/>
            </a:avLst>
          </a:prstGeom>
          <a:solidFill>
            <a:srgbClr val="E7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l">
              <a:lnSpc>
                <a:spcPct val="112000"/>
              </a:lnSpc>
            </a:pPr>
            <a:r>
              <a:rPr sz="1400" b="0" i="1">
                <a:solidFill>
                  <a:srgbClr val="1B2A4A"/>
                </a:solidFill>
                <a:latin typeface="Calibri"/>
              </a:rPr>
              <a:t>Padrão consistente com o piloto: figuras que dependem de oposição lógica — como a antítese — tendem a “derivar” mais no espaço de embedding do que reconstruções puramente sintáticas.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68E96"/>
                </a:solidFill>
                <a:latin typeface="Calibri"/>
              </a:rPr>
              <a:t>Laboratório de Estresse Semântico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68E9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5BDB"/>
                </a:solidFill>
                <a:latin typeface="Calibri"/>
              </a:rPr>
              <a:t>CONTROLE METODOLÓGICO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Fenômeno retórico ou contexto perdido?</a:t>
            </a:r>
          </a:p>
        </p:txBody>
      </p:sp>
      <p:sp>
        <p:nvSpPr>
          <p:cNvPr id="4" name="Rounded Rectangle 4"/>
          <p:cNvSpPr/>
          <p:nvPr/>
        </p:nvSpPr>
        <p:spPr>
          <a:xfrm>
            <a:off x="640080" y="1600200"/>
            <a:ext cx="5212080" cy="32461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5"/>
          <p:cNvSpPr/>
          <p:nvPr/>
        </p:nvSpPr>
        <p:spPr>
          <a:xfrm>
            <a:off x="914400" y="1856232"/>
            <a:ext cx="3450000" cy="365760"/>
          </a:xfrm>
          <a:prstGeom prst="roundRect">
            <a:avLst>
              <a:gd name="adj" fmla="val 50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200" b="1" i="0">
                <a:solidFill>
                  <a:srgbClr val="E8590C"/>
                </a:solidFill>
                <a:latin typeface="Calibri"/>
              </a:rPr>
              <a:t>PRECISA DE CONTEXTO PRÉVIO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6 de 12 pares do piloto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277063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495057"/>
                </a:solidFill>
                <a:latin typeface="Calibri"/>
              </a:rPr>
              <a:t>Ex.: “Mas ainda...” (Vieira), apóstrofe a “tu, feto esquecido” (Anjos), elisão “(...)” (Andrade)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59359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95057"/>
                </a:solidFill>
                <a:latin typeface="Calibri"/>
              </a:rPr>
              <a:t>→ conectivo, dêixis ou apóstrofe sem antecedente dentro do trecho</a:t>
            </a:r>
          </a:p>
        </p:txBody>
      </p:sp>
      <p:sp>
        <p:nvSpPr>
          <p:cNvPr id="9" name="Rounded Rectangle 9"/>
          <p:cNvSpPr/>
          <p:nvPr/>
        </p:nvSpPr>
        <p:spPr>
          <a:xfrm>
            <a:off x="914400" y="4297680"/>
            <a:ext cx="4663440" cy="256032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10"/>
          <p:cNvSpPr/>
          <p:nvPr/>
        </p:nvSpPr>
        <p:spPr>
          <a:xfrm>
            <a:off x="914400" y="4297680"/>
            <a:ext cx="2665524" cy="25603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1"/>
          <p:cNvSpPr txBox="1"/>
          <p:nvPr/>
        </p:nvSpPr>
        <p:spPr>
          <a:xfrm>
            <a:off x="914400" y="45902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590C"/>
                </a:solidFill>
                <a:latin typeface="Calibri"/>
              </a:rPr>
              <a:t>similaridade média ≈ 0,57</a:t>
            </a:r>
          </a:p>
        </p:txBody>
      </p:sp>
      <p:sp>
        <p:nvSpPr>
          <p:cNvPr id="12" name="Rounded Rectangle 12"/>
          <p:cNvSpPr/>
          <p:nvPr/>
        </p:nvSpPr>
        <p:spPr>
          <a:xfrm>
            <a:off x="6309360" y="1600200"/>
            <a:ext cx="5212080" cy="32461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3"/>
          <p:cNvSpPr/>
          <p:nvPr/>
        </p:nvSpPr>
        <p:spPr>
          <a:xfrm>
            <a:off x="6583680" y="1856232"/>
            <a:ext cx="1900000" cy="365760"/>
          </a:xfrm>
          <a:prstGeom prst="roundRect">
            <a:avLst>
              <a:gd name="adj" fmla="val 50000"/>
            </a:avLst>
          </a:prstGeom>
          <a:solidFill>
            <a:srgbClr val="D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200" b="1" i="0">
                <a:solidFill>
                  <a:srgbClr val="0CA678"/>
                </a:solidFill>
                <a:latin typeface="Calibri"/>
              </a:rPr>
              <a:t>AUTOCONTIDO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83680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6 de 12 pares do piloto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83680" y="277063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495057"/>
                </a:solidFill>
                <a:latin typeface="Calibri"/>
              </a:rPr>
              <a:t>Ex.: Rubião (Assis), Miranda (Azevedo), Macunaíma (Andrade)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83680" y="359359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95057"/>
                </a:solidFill>
                <a:latin typeface="Calibri"/>
              </a:rPr>
              <a:t>→ personagem e cena descritos dentro da própria frase</a:t>
            </a:r>
          </a:p>
        </p:txBody>
      </p:sp>
      <p:sp>
        <p:nvSpPr>
          <p:cNvPr id="17" name="Rounded Rectangle 17"/>
          <p:cNvSpPr/>
          <p:nvPr/>
        </p:nvSpPr>
        <p:spPr>
          <a:xfrm>
            <a:off x="6583680" y="4297680"/>
            <a:ext cx="4663440" cy="256032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8"/>
          <p:cNvSpPr/>
          <p:nvPr/>
        </p:nvSpPr>
        <p:spPr>
          <a:xfrm>
            <a:off x="6583680" y="4297680"/>
            <a:ext cx="3421309" cy="256032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9"/>
          <p:cNvSpPr txBox="1"/>
          <p:nvPr/>
        </p:nvSpPr>
        <p:spPr>
          <a:xfrm>
            <a:off x="6583680" y="45902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CA678"/>
                </a:solidFill>
                <a:latin typeface="Calibri"/>
              </a:rPr>
              <a:t>similaridade média ≈ 0,73</a:t>
            </a:r>
          </a:p>
        </p:txBody>
      </p:sp>
      <p:sp>
        <p:nvSpPr>
          <p:cNvPr id="20" name="Rounded Rectangle 20"/>
          <p:cNvSpPr/>
          <p:nvPr/>
        </p:nvSpPr>
        <p:spPr>
          <a:xfrm>
            <a:off x="640080" y="5532120"/>
            <a:ext cx="10911535" cy="777240"/>
          </a:xfrm>
          <a:prstGeom prst="roundRect">
            <a:avLst>
              <a:gd name="adj" fmla="val 10000"/>
            </a:avLst>
          </a:prstGeom>
          <a:solidFill>
            <a:srgbClr val="E7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B2A4A"/>
                </a:solidFill>
                <a:latin typeface="Calibri"/>
              </a:rPr>
              <a:t>5 dos 6 pares “Lógico-pragmática” (Seção 6) também precisam de contexto prévio, contra 1 dos 5 “Lexical/Retórica” — os dois fatores estão praticamente confundidos neste piloto (Mann-Whitney p ≈ 0,004). Ainda não dá para saber se é o fenômeno ou o contexto perdido que reduz a similaridade.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68E96"/>
                </a:solidFill>
                <a:latin typeface="Calibri"/>
              </a:rPr>
              <a:t>Laboratório de Estresse Semântico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68E9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5BDB"/>
                </a:solidFill>
                <a:latin typeface="Calibri"/>
              </a:rPr>
              <a:t>ATUALIZAÇÃO (n=25)</a:t>
            </a:r>
          </a:p>
        </p:txBody>
      </p:sp>
      <p:sp>
        <p:nvSpPr>
          <p:cNvPr id="3" name="TextBox 24"/>
          <p:cNvSpPr txBox="1"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 hierarquia “Paradoxo pior” não se sustentou</a:t>
            </a:r>
          </a:p>
        </p:txBody>
      </p:sp>
      <p:sp>
        <p:nvSpPr>
          <p:cNvPr id="4" name="Rounded Rectangle 4"/>
          <p:cNvSpPr/>
          <p:nvPr/>
        </p:nvSpPr>
        <p:spPr>
          <a:xfrm>
            <a:off x="640080" y="1600200"/>
            <a:ext cx="5212080" cy="32461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5"/>
          <p:cNvSpPr/>
          <p:nvPr/>
        </p:nvSpPr>
        <p:spPr>
          <a:xfrm>
            <a:off x="914400" y="1856232"/>
            <a:ext cx="3450000" cy="365760"/>
          </a:xfrm>
          <a:prstGeom prst="roundRect">
            <a:avLst>
              <a:gd name="adj" fmla="val 50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200" b="1" i="0">
                <a:solidFill>
                  <a:srgbClr val="E8590C"/>
                </a:solidFill>
                <a:latin typeface="Calibri"/>
              </a:rPr>
              <a:t>PARADOXO — SÓ n=1 (PILOTO)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vieira_002, o único par do piloto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277063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495057"/>
                </a:solidFill>
                <a:latin typeface="Calibri"/>
              </a:rPr>
              <a:t>Ex.: “É uma arte sem arte, caia onde cair” (Vieira)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59359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95057"/>
                </a:solidFill>
                <a:latin typeface="Calibri"/>
              </a:rPr>
              <a:t>→ parecia o fenômeno mais hostil aos embeddings do dataset</a:t>
            </a:r>
          </a:p>
        </p:txBody>
      </p:sp>
      <p:sp>
        <p:nvSpPr>
          <p:cNvPr id="9" name="Rounded Rectangle 9"/>
          <p:cNvSpPr/>
          <p:nvPr/>
        </p:nvSpPr>
        <p:spPr>
          <a:xfrm>
            <a:off x="914400" y="4297680"/>
            <a:ext cx="4663440" cy="256032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10"/>
          <p:cNvSpPr/>
          <p:nvPr/>
        </p:nvSpPr>
        <p:spPr>
          <a:xfrm>
            <a:off x="914400" y="4297680"/>
            <a:ext cx="1818742" cy="25603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1"/>
          <p:cNvSpPr txBox="1"/>
          <p:nvPr/>
        </p:nvSpPr>
        <p:spPr>
          <a:xfrm>
            <a:off x="914400" y="45902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590C"/>
                </a:solidFill>
                <a:latin typeface="Calibri"/>
              </a:rPr>
              <a:t>similaridade ≈ 0,39 (mínimo do piloto)</a:t>
            </a:r>
          </a:p>
        </p:txBody>
      </p:sp>
      <p:sp>
        <p:nvSpPr>
          <p:cNvPr id="12" name="Rounded Rectangle 12"/>
          <p:cNvSpPr/>
          <p:nvPr/>
        </p:nvSpPr>
        <p:spPr>
          <a:xfrm>
            <a:off x="6309360" y="1600200"/>
            <a:ext cx="5212080" cy="32461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3"/>
          <p:cNvSpPr/>
          <p:nvPr/>
        </p:nvSpPr>
        <p:spPr>
          <a:xfrm>
            <a:off x="6583680" y="1856232"/>
            <a:ext cx="1900000" cy="365760"/>
          </a:xfrm>
          <a:prstGeom prst="roundRect">
            <a:avLst>
              <a:gd name="adj" fmla="val 50000"/>
            </a:avLst>
          </a:prstGeom>
          <a:solidFill>
            <a:srgbClr val="D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200" b="1" i="0">
                <a:solidFill>
                  <a:srgbClr val="0CA678"/>
                </a:solidFill>
                <a:latin typeface="Calibri"/>
              </a:rPr>
              <a:t>PARADOXO — AGORA n=4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83680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+ Camões e 2 sonetos de Gregório de Matos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83680" y="277063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495057"/>
                </a:solidFill>
                <a:latin typeface="Calibri"/>
              </a:rPr>
              <a:t>Ex.: matos_001 chega a 0,89 — o maior valor do dataset inteiro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83680" y="359359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95057"/>
                </a:solidFill>
                <a:latin typeface="Calibri"/>
              </a:rPr>
              <a:t>→ virou o fenômeno de MAIOR desvio padrão, não o de menor média</a:t>
            </a:r>
          </a:p>
        </p:txBody>
      </p:sp>
      <p:sp>
        <p:nvSpPr>
          <p:cNvPr id="17" name="Rounded Rectangle 17"/>
          <p:cNvSpPr/>
          <p:nvPr/>
        </p:nvSpPr>
        <p:spPr>
          <a:xfrm>
            <a:off x="6583680" y="4297680"/>
            <a:ext cx="4663440" cy="256032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8"/>
          <p:cNvSpPr/>
          <p:nvPr/>
        </p:nvSpPr>
        <p:spPr>
          <a:xfrm>
            <a:off x="6583680" y="4297680"/>
            <a:ext cx="3684118" cy="256032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9"/>
          <p:cNvSpPr txBox="1"/>
          <p:nvPr/>
        </p:nvSpPr>
        <p:spPr>
          <a:xfrm>
            <a:off x="6583680" y="45902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CA678"/>
                </a:solidFill>
                <a:latin typeface="Calibri"/>
              </a:rPr>
              <a:t>similaridade média ≈ 0,79 (DP 0,19–0,28)</a:t>
            </a:r>
          </a:p>
        </p:txBody>
      </p:sp>
      <p:sp>
        <p:nvSpPr>
          <p:cNvPr id="20" name="Rounded Rectangle 20"/>
          <p:cNvSpPr/>
          <p:nvPr/>
        </p:nvSpPr>
        <p:spPr>
          <a:xfrm>
            <a:off x="640080" y="5532120"/>
            <a:ext cx="10911535" cy="777240"/>
          </a:xfrm>
          <a:prstGeom prst="roundRect">
            <a:avLst>
              <a:gd name="adj" fmla="val 10000"/>
            </a:avLst>
          </a:prstGeom>
          <a:solidFill>
            <a:srgbClr val="E7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B2A4A"/>
                </a:solidFill>
                <a:latin typeface="Calibri"/>
              </a:rPr>
              <a:t>O extremo “Paradoxo é o pior fenômeno” não se sustentou: era uma leitura de vieira_002 especificamente (também dependente de contexto — slide anterior), não do fenômeno em si. O confound de contexto segue significativo com n=25 (Mann-Whitney p ≈ 0,016).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68E96"/>
                </a:solidFill>
                <a:latin typeface="Calibri"/>
              </a:rPr>
              <a:t>Laboratório de Estresse Semântico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68E9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